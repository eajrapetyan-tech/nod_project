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64008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53912"/>
            <a:ext cx="12191695" cy="64008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998464"/>
            <a:ext cx="12191695" cy="64008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4846320" cy="1417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Save you</a:t>
            </a:r>
            <a:br/>
            <a:r>
              <a:t>in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5120640" cy="6217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700" b="0">
                <a:solidFill>
                  <a:srgbClr val="E3EBF0"/>
                </a:solidFill>
                <a:latin typeface="Arial"/>
              </a:defRPr>
            </a:pPr>
            <a:r>
              <a:t>Персональная историческая открытка</a:t>
            </a:r>
            <a:br/>
            <a:r>
              <a:t>с локальной рекламой и QR-купоном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5486400" cy="42062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50" b="0">
                <a:solidFill>
                  <a:srgbClr val="C4D3DE"/>
                </a:solidFill>
                <a:latin typeface="Arial"/>
              </a:defRPr>
            </a:pPr>
            <a:r>
              <a:t>Исследовательский проект: целевая аудитория, маркетинг, география запуска, юнит-экономика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06440"/>
            <a:ext cx="420624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C4D3DE"/>
                </a:solidFill>
                <a:latin typeface="Arial"/>
              </a:defRPr>
            </a:pPr>
            <a:r>
              <a:t>Айрапетян Эрик · НОД / spring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822960"/>
            <a:ext cx="4069080" cy="5120640"/>
          </a:xfrm>
          <a:prstGeom prst="roundRect">
            <a:avLst/>
          </a:prstGeom>
          <a:solidFill>
            <a:srgbClr val="FAF4E2"/>
          </a:solidFill>
          <a:ln w="15240"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024128"/>
            <a:ext cx="3611880" cy="3474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700" b="1">
                <a:solidFill>
                  <a:srgbClr val="1E3040"/>
                </a:solidFill>
                <a:latin typeface="Arial"/>
              </a:defRPr>
            </a:pPr>
            <a:r>
              <a:t>ПЕТЕРБУРГСКИЙ ВЕСТНИК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389888"/>
            <a:ext cx="36118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780" b="0">
                <a:solidFill>
                  <a:srgbClr val="586069"/>
                </a:solidFill>
                <a:latin typeface="Arial"/>
              </a:defRPr>
            </a:pPr>
            <a:r>
              <a:t>специальный выпуск · историческая открытка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19072"/>
            <a:ext cx="3429000" cy="3246120"/>
          </a:xfrm>
          <a:prstGeom prst="rect">
            <a:avLst/>
          </a:prstGeom>
          <a:solidFill>
            <a:srgbClr val="D8D3C2"/>
          </a:solidFill>
          <a:ln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2240280"/>
            <a:ext cx="3154680" cy="6400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600" b="1">
                <a:solidFill>
                  <a:srgbClr val="1E3040"/>
                </a:solidFill>
                <a:latin typeface="Arial"/>
              </a:defRPr>
            </a:pPr>
            <a:r>
              <a:t>ФОТО ТУРИСТА</a:t>
            </a:r>
            <a:br/>
            <a:r>
              <a:t>в стиле старой газеты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230368"/>
            <a:ext cx="3429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5349240"/>
            <a:ext cx="2990088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ПАРТНЕР: кофе рядом · QR-купон −10%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5321808"/>
            <a:ext cx="274320" cy="274320"/>
          </a:xfrm>
          <a:prstGeom prst="rect">
            <a:avLst/>
          </a:prstGeom>
          <a:solidFill>
            <a:srgbClr val="1F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СУТЬ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Бизнес-гипотеза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41832"/>
            <a:ext cx="6583680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2000" b="1">
                <a:solidFill>
                  <a:srgbClr val="1E3040"/>
                </a:solidFill>
                <a:latin typeface="Arial"/>
              </a:defRPr>
            </a:pP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продаем</a:t>
            </a:r>
            <a:r>
              <a:rPr dirty="0"/>
              <a:t> </a:t>
            </a:r>
            <a:r>
              <a:rPr dirty="0" err="1"/>
              <a:t>туристу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сувенир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историей</a:t>
            </a:r>
            <a:r>
              <a:rPr dirty="0"/>
              <a:t> </a:t>
            </a:r>
            <a:r>
              <a:rPr dirty="0" err="1"/>
              <a:t>города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73152" cy="13258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rPr dirty="0"/>
              <a:t>B2C: </a:t>
            </a:r>
            <a:r>
              <a:rPr dirty="0" err="1"/>
              <a:t>турист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955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Платит за персональную открытку, сделанную на месте: фото + исторический шаблон + печать + цифровая копия.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73152" cy="132588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B2B: локальный партнер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Покупает рекламное место на обороте/нижнем блоке открытки: QR, купон, промокод, отчетность.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965960"/>
            <a:ext cx="73152" cy="132588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Франшиза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После пилота модель масштабируется в другие исторические города и туристические локации.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" y="4169663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Фото у</a:t>
            </a:r>
            <a:br/>
            <a:r>
              <a:t>достопримечательности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44165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6323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72968" y="4169663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7296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Шаблон</a:t>
            </a:r>
            <a:br/>
            <a:r>
              <a:t>города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46320" y="44165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6635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76088" y="4169663"/>
            <a:ext cx="457200" cy="457200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7608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7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Печать</a:t>
            </a:r>
            <a:br/>
            <a:r>
              <a:t>2–3 минуты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0" y="44165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26947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79207" y="4169663"/>
            <a:ext cx="457200" cy="457200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9207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QR-купон</a:t>
            </a:r>
            <a:br/>
            <a:r>
              <a:t>партнера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52559" y="44165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72600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82328" y="4169663"/>
            <a:ext cx="457200" cy="457200"/>
          </a:xfrm>
          <a:prstGeom prst="ellipse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8232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Метрики</a:t>
            </a:r>
            <a:br/>
            <a:r>
              <a:t>для B2B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Рабочая модель проекта: продажа фото туристу + рекламная выручка от локального бизнеса.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КАК ПРОВЕРЯЛАСЬ ГИПОТЕЗА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Методология и источники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42416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Проект собран как воспроизводимая цепочка анализа: исходные таблицы → обработка → графики → отчет → презентация.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77724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Администрация Санкт-Петербурга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турпоток 2025, вклад туризма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77724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Турбарометр / Visit Petersburg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цели поездок, NPS, расходы, семейные туристы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73152" cy="77724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04495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Visit Petersburg: «Места»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4728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статический парсинг достопримечательностей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73152" cy="77724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04495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2GIS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44728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статический парсинг ресторанов, отелей и рубрик еды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3192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3931920"/>
            <a:ext cx="73152" cy="77724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096511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UNESCO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49884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историческое позиционирование центра города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74920"/>
            <a:ext cx="10607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5239512"/>
            <a:ext cx="10259567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Техническая часть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641848"/>
            <a:ext cx="10259567" cy="329184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850">
                <a:solidFill>
                  <a:srgbClr val="1A1A1C"/>
                </a:solidFill>
              </a:rPr>
              <a:t>ООП-коллекторы, requests + BeautifulSoup, pandas, matplotlib, Dash-дашборд; Selenium-модуль оставлен как отдельная заготовка для динамических страниц.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Полный реестр источников: data/raw/source_registry.csv; код: src/save_history/*.py.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Санкт-Петербург — рациональный первый город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7" name="Picture 6" descr="tourism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1328"/>
            <a:ext cx="6903720" cy="35125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7" y="1435607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23A6A6"/>
                </a:solidFill>
                <a:latin typeface="Arial"/>
              </a:defRPr>
            </a:pPr>
            <a:r>
              <a:t>12,4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7" y="1856231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туристических поездок в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132588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30967" y="1435607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F3B33D"/>
                </a:solidFill>
                <a:latin typeface="Arial"/>
              </a:defRPr>
            </a:pPr>
            <a:r>
              <a:t>843,1 млрд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0967" y="1856231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вклад туристов в экономику,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51460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7" y="2624328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6F2DBD"/>
                </a:solidFill>
                <a:latin typeface="Arial"/>
              </a:defRPr>
            </a:pPr>
            <a:r>
              <a:t>+7%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3044952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рост к 2024 году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251460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30967" y="2624328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1E3040"/>
                </a:solidFill>
                <a:latin typeface="Arial"/>
              </a:defRPr>
            </a:pPr>
            <a:r>
              <a:t>+19%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0967" y="3044952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рост к 2019 году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39502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7576" y="388620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Крупный поток дает базу для пилота без раннего масштабирования.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436168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7576" y="429768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Исторический центр усиливает идею «сохранить себя в истории города».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477316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37576" y="470916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Высокая туристическая экономика повышает интерес локального B2B к рекламе.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Источники: Администрация Санкт-Петербурга; Турбарометр Санкт-Петербурга, итоги 2024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КОМУ ПРОДАЕТСЯ ФОТО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Целевая аудитория 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7" name="Picture 6" descr="trip_purposes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5978"/>
            <a:ext cx="6766560" cy="36803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23444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234440"/>
            <a:ext cx="73152" cy="114300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39903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Культурные туристы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013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51,4% поездок туристов из регионов России — культурно-познавательные цели. Продукт совпадает с мотивом поездки.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60604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606040"/>
            <a:ext cx="73152" cy="114300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277063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Семьи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1729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54,3% внутреннего турпотока — семейные туристы; сувенир работает как подарок и память.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977638"/>
            <a:ext cx="3611880" cy="21579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3977639"/>
            <a:ext cx="54864" cy="2157984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142231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Туристы 18–44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5445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rPr dirty="0"/>
              <a:t>Для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визуальность</a:t>
            </a:r>
            <a:r>
              <a:rPr dirty="0"/>
              <a:t>,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цифровую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физическую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снимка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Источник: Туризм Санкт-Петербурга. Итоги 2024 года / Турбарометр.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КТО ПЛАТИТ ЗА РЕКЛАМУ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B2B-база: рестораны, кофейни, отели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7" name="Picture 6" descr="partner_market_2g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2125"/>
            <a:ext cx="6812280" cy="3705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700" b="1">
                <a:solidFill>
                  <a:srgbClr val="1E3040"/>
                </a:solidFill>
                <a:latin typeface="Arial"/>
              </a:defRPr>
            </a:pPr>
            <a:r>
              <a:t>Что продаем партнеру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1801368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37576" y="1737360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Рекламный блок на печатной открытке.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292858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2228850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QR-код / промокод с измеримой конверсией.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2784347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2720339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Географически близкий трафик: турист уже рядом.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275837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3211829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Пакет для пилота: 10–15 тыс. ₽ в месяц за партнера.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25196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251960"/>
            <a:ext cx="73152" cy="82296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416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Цель пилота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818888"/>
            <a:ext cx="3035808" cy="438912"/>
          </a:xfrm>
          <a:prstGeom prst="rect">
            <a:avLst/>
          </a:prstGeom>
          <a:noFill/>
        </p:spPr>
        <p:txBody>
          <a:bodyPr wrap="square" lIns="0" tIns="0" rIns="0" anchor="t">
            <a:normAutofit/>
          </a:bodyPr>
          <a:lstStyle/>
          <a:p>
            <a:pPr algn="l">
              <a:defRPr sz="1000" b="0">
                <a:solidFill>
                  <a:srgbClr val="1F1F23"/>
                </a:solidFill>
                <a:latin typeface="Arial"/>
              </a:defRPr>
            </a:pPr>
            <a:r>
              <a:rPr sz="1200"/>
              <a:t>5 платящих партнеров на первую точку и проверка QR-конверсии 8–12%.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Источник: статический парсинг страниц 2GIS по Санкт-Петербургу.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ГДЕ СТАВИТЬ ПЕРВУЮ ТОЧКУ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География запуска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7" name="Picture 6" descr="launch_zon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700"/>
            <a:ext cx="6903720" cy="32657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10972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399032"/>
            <a:ext cx="321868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400" b="1">
                <a:solidFill>
                  <a:srgbClr val="1E3040"/>
                </a:solidFill>
                <a:latin typeface="Arial"/>
              </a:defRPr>
            </a:pPr>
            <a:r>
              <a:t>Рекомендация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801368"/>
            <a:ext cx="3218688" cy="4389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0">
                <a:solidFill>
                  <a:srgbClr val="1F1F23"/>
                </a:solidFill>
                <a:latin typeface="Arial"/>
              </a:defRPr>
            </a:pPr>
            <a:r>
              <a:t>Невский проспект — Казанский собор — Дом книги.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743200"/>
            <a:ext cx="347472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600" b="1">
                <a:solidFill>
                  <a:srgbClr val="1E3040"/>
                </a:solidFill>
                <a:latin typeface="Arial"/>
              </a:defRPr>
            </a:pPr>
            <a:r>
              <a:t>Почему именно там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324612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6" y="318211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максимально понятный туристический маршрут;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64617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358216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высокая плотность ресторанов и кофеен;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04622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398221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проще операционно, чем Дворцовая площадь;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444627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3296" y="438226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сильный исторический контекст без потери B2B-доступности.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Скоринг экспертный: трафик, исторический контекст, партнерская плотность, операционность, устойчивость к погоде.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КАК ЭТО РАБОТАЕТ ДЛЯ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Продуктовый сценарий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1426464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Фото /</a:t>
            </a:r>
            <a:br/>
            <a:r>
              <a:t>загрузка через QR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98648" y="1426464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Выбор</a:t>
            </a:r>
            <a:br/>
            <a:r>
              <a:t>шаблона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01768" y="1426464"/>
            <a:ext cx="457200" cy="457200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040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Печать</a:t>
            </a:r>
            <a:br/>
            <a:r>
              <a:t>на месте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16733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95159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04888" y="1426464"/>
            <a:ext cx="457200" cy="457200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88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Купон</a:t>
            </a:r>
            <a:br/>
            <a:r>
              <a:t>партнера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08007" y="1426464"/>
            <a:ext cx="457200" cy="457200"/>
          </a:xfrm>
          <a:prstGeom prst="ellipse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08007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Цифровая</a:t>
            </a:r>
            <a:br/>
            <a:r>
              <a:t>копия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5321808"/>
            <a:ext cx="274320" cy="274320"/>
          </a:xfrm>
          <a:prstGeom prst="rect">
            <a:avLst/>
          </a:prstGeom>
          <a:solidFill>
            <a:srgbClr val="1F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06440" y="2286000"/>
            <a:ext cx="438912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Пакет шаблонов для пилота</a:t>
            </a:r>
          </a:p>
        </p:txBody>
      </p:sp>
      <p:sp>
        <p:nvSpPr>
          <p:cNvPr id="40" name="Oval 39"/>
          <p:cNvSpPr/>
          <p:nvPr/>
        </p:nvSpPr>
        <p:spPr>
          <a:xfrm>
            <a:off x="5897880" y="2852927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17336" y="2788920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«Северная столица, 1913» — дореволюционная открытка.</a:t>
            </a:r>
          </a:p>
        </p:txBody>
      </p:sp>
      <p:sp>
        <p:nvSpPr>
          <p:cNvPr id="42" name="Oval 41"/>
          <p:cNvSpPr/>
          <p:nvPr/>
        </p:nvSpPr>
        <p:spPr>
          <a:xfrm>
            <a:off x="5897880" y="3255263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17336" y="3191256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«Ленинградская хроника» — старая газета.</a:t>
            </a:r>
          </a:p>
        </p:txBody>
      </p:sp>
      <p:sp>
        <p:nvSpPr>
          <p:cNvPr id="44" name="Oval 43"/>
          <p:cNvSpPr/>
          <p:nvPr/>
        </p:nvSpPr>
        <p:spPr>
          <a:xfrm>
            <a:off x="5897880" y="3657599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17336" y="3593591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«Петербургский вестник» — газетный макет.</a:t>
            </a:r>
          </a:p>
        </p:txBody>
      </p:sp>
      <p:sp>
        <p:nvSpPr>
          <p:cNvPr id="46" name="Oval 45"/>
          <p:cNvSpPr/>
          <p:nvPr/>
        </p:nvSpPr>
        <p:spPr>
          <a:xfrm>
            <a:off x="5897880" y="4059936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17336" y="3995928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«Музейная карточка» — премиальный аккуратный формат.</a:t>
            </a:r>
          </a:p>
        </p:txBody>
      </p:sp>
      <p:sp>
        <p:nvSpPr>
          <p:cNvPr id="48" name="Oval 47"/>
          <p:cNvSpPr/>
          <p:nvPr/>
        </p:nvSpPr>
        <p:spPr>
          <a:xfrm>
            <a:off x="5897880" y="4462272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17336" y="4398264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«Белые ночи» — сезонный шаблон.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97880" y="5303520"/>
            <a:ext cx="4846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897880" y="5303520"/>
            <a:ext cx="73152" cy="658368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9048" y="5468112"/>
            <a:ext cx="44988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Операционный стандарт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8" y="5824728"/>
            <a:ext cx="4498848" cy="25603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850">
                <a:solidFill>
                  <a:srgbClr val="1A1A1C"/>
                </a:solidFill>
              </a:rPr>
              <a:t>Печать до 2–3 минут; 3–5 шаблонов; QR-метка для учета переходов.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Главная ценность: физический сувенир с персональной фотографией, а не одноразовый цифровой фильтр.</a:t>
            </a:r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D9886020-AA0A-8E2A-5B1B-415254CD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442330"/>
            <a:ext cx="4389120" cy="3683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Юнит-экономика одной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7" name="Picture 6" descr="unit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0429"/>
            <a:ext cx="6903720" cy="3762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56616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Базовый сценарий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7" y="1892807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23A6A6"/>
                </a:solidFill>
                <a:latin typeface="Arial"/>
              </a:defRPr>
            </a:pPr>
            <a:r>
              <a:t>590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2313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цена отпечатка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783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56648" y="1892807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F3B33D"/>
                </a:solidFill>
                <a:latin typeface="Arial"/>
              </a:defRPr>
            </a:pPr>
            <a:r>
              <a:t>45 /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648" y="2313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продажи в базе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926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3035808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6F2DB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456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рекламных партнеров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926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3035808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1E3040"/>
                </a:solidFill>
                <a:latin typeface="Arial"/>
              </a:defRPr>
            </a:pPr>
            <a:r>
              <a:t>308 тыс.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3456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прибыль до налога / мес.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315968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4315968"/>
            <a:ext cx="73152" cy="8686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480559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Интерпретация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800599"/>
            <a:ext cx="3264408" cy="34747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050" dirty="0" err="1">
                <a:solidFill>
                  <a:srgbClr val="1A1A1C"/>
                </a:solidFill>
              </a:rPr>
              <a:t>Базовый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сценарий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рабочий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только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после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проверки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спроса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на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пилоте</a:t>
            </a:r>
            <a:r>
              <a:rPr sz="1050" dirty="0">
                <a:solidFill>
                  <a:srgbClr val="1A1A1C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Финансовые параметры — модельные допущения для пилота; проверяются продажами и QR-конверсией.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ГЛАВНАЯ МЕТРИКА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Порог безубыточности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breakeven_daily_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7809"/>
            <a:ext cx="6766560" cy="3688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Что должно подтвердиться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180136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37576" y="173736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База: около 23 отпечатков в день.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36143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229743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Консервативно: запас почти нулевой.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292150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285750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Реклама помогает только при регулярной оплате.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481577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341757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Считать QR-переходы и купоны.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61772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617720"/>
            <a:ext cx="73152" cy="749808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78231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5184648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050">
                <a:solidFill>
                  <a:srgbClr val="1A1A1C"/>
                </a:solidFill>
              </a:rPr>
              <a:t>1200+ отп./мес.; 5 партнеров; QR 8–12%; рейтинг 4,7+.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Расчет: (фиксированные расходы − рекламная выручка) / маржа печати.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ПИЛОТ НА 6 НЕДЕЛЬ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Маркетинговая кампания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515600" cy="38404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На пилоте маркетинг нужен для проверки: видят ли туристы точку, покупают ли фото и используют ли купон партнера.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0116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23A6A6"/>
                </a:solidFill>
                <a:latin typeface="Arial"/>
              </a:defRPr>
            </a:pPr>
            <a:r>
              <a:t>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29260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23A6A6"/>
                </a:solidFill>
                <a:latin typeface="Arial"/>
              </a:defRPr>
            </a:pPr>
            <a: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74519"/>
            <a:ext cx="10972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950" b="1">
                <a:solidFill>
                  <a:srgbClr val="23A6A6"/>
                </a:solidFill>
                <a:latin typeface="Arial"/>
              </a:defRPr>
            </a:pPr>
            <a:r>
              <a:t>Бюджет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212848"/>
            <a:ext cx="73152" cy="50292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359152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QR-купон на открытке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59152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измерить переходы и покупки у партнера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50008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45 тыс. 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89504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2889504"/>
            <a:ext cx="73152" cy="50292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035808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Карточка в 2GIS / Яндекс Картах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035808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отзывы, поисковый спрос, доверие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26664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30 тыс.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566160"/>
            <a:ext cx="73152" cy="50292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712463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Отели и туристские инфоцентры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712463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семейные туристы и гости из регионов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03320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25 тыс. 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6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242816"/>
            <a:ext cx="73152" cy="50292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389120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VK / Telegram UGC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389120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посты с геометками и фото результата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79976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90 тыс. 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19472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919472"/>
            <a:ext cx="73152" cy="50292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5065776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B2B-пакет для HoReCa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065776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5–8 платящих партнеров на точку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56632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20 тыс. 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057400"/>
            <a:ext cx="17830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59568" y="2267712"/>
            <a:ext cx="1463040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350" b="1">
                <a:solidFill>
                  <a:srgbClr val="1E3040"/>
                </a:solidFill>
                <a:latin typeface="Arial"/>
              </a:defRPr>
            </a:pPr>
            <a:r>
              <a:t>Ключевые KPI</a:t>
            </a:r>
          </a:p>
        </p:txBody>
      </p:sp>
      <p:sp>
        <p:nvSpPr>
          <p:cNvPr id="38" name="Oval 37"/>
          <p:cNvSpPr/>
          <p:nvPr/>
        </p:nvSpPr>
        <p:spPr>
          <a:xfrm>
            <a:off x="10287000" y="28072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06456" y="274320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1200+</a:t>
            </a:r>
            <a:br/>
            <a:r>
              <a:t>отпечатков/мес.</a:t>
            </a:r>
          </a:p>
        </p:txBody>
      </p:sp>
      <p:sp>
        <p:nvSpPr>
          <p:cNvPr id="40" name="Oval 39"/>
          <p:cNvSpPr/>
          <p:nvPr/>
        </p:nvSpPr>
        <p:spPr>
          <a:xfrm>
            <a:off x="10287000" y="320725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314325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5</a:t>
            </a:r>
            <a:br/>
            <a:r>
              <a:t>партнеров</a:t>
            </a:r>
          </a:p>
        </p:txBody>
      </p:sp>
      <p:sp>
        <p:nvSpPr>
          <p:cNvPr id="42" name="Oval 41"/>
          <p:cNvSpPr/>
          <p:nvPr/>
        </p:nvSpPr>
        <p:spPr>
          <a:xfrm>
            <a:off x="10287000" y="36073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06456" y="354330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QR</a:t>
            </a:r>
            <a:br/>
            <a:r>
              <a:t>8–12%</a:t>
            </a:r>
          </a:p>
        </p:txBody>
      </p:sp>
      <p:sp>
        <p:nvSpPr>
          <p:cNvPr id="44" name="Oval 43"/>
          <p:cNvSpPr/>
          <p:nvPr/>
        </p:nvSpPr>
        <p:spPr>
          <a:xfrm>
            <a:off x="10287000" y="400735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06456" y="394335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4,7+</a:t>
            </a:r>
            <a:br/>
            <a:r>
              <a:t>рейтинг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513832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513832"/>
            <a:ext cx="73152" cy="50292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" y="5660136"/>
            <a:ext cx="1920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Логика пилота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5660136"/>
            <a:ext cx="5577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Сначала доказываем спрос и купонную конверсию, затем переводим партнеров на фиксированный месячный пакет.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Бюджеты — план пилота; фактические расходы уточняются после выбора площадки и подрядчиков.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ЧТО МОЖЕТ СОРВАТЬ ПИЛОТ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Риски и меры снижения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82880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Риск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292608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02336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Согласования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28800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Нельзя поставить стационарную точку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партнерская площадка, отель, мобильная стойка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96312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Погода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633472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Падает уличный поток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33472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точки рядом с кафе, переходами, крытыми зонами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00984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456432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Медленная печать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38144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очередь и отказ от покупки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38144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ограничить шаблоны, стандарт 2–3 минуты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05656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61104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Слабый 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242816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партнеры не платят до доказанной конверсии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42816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первый цикл: CPA/купон, затем фиксированный пакет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910328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065776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Качество макета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047488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воспринимается как дешевый фильтр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47488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сувенирная полиграфия и премиальные шаблоны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Риск-матрица для пилота; после первой точки обновляется по фактическим операционным данным.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rPr dirty="0"/>
              <a:t>ЧТО ДЕЛАТЬ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378440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900" b="1">
                <a:solidFill>
                  <a:srgbClr val="1E3040"/>
                </a:solidFill>
                <a:latin typeface="Arial"/>
              </a:defRPr>
            </a:pPr>
            <a:r>
              <a:t>Гипотеза подходит для пилота в Санкт-Петербурге. Решение о масштабировании нужно принимать после 6 недель фактических продаж.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73152" cy="114300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1. Запуск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Одна точка: Невский проспект — Казанский собор — Дом книги.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73152" cy="114300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2. Проверка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Продажи в день, QR-конверсия, рейтинг, скорость печати, продления B2B.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73152" cy="114300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3. Масштабирование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При выполнении KPI — 3 точки в Петербурге и франшизный пакет.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329184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600" b="1">
                <a:solidFill>
                  <a:srgbClr val="1E3040"/>
                </a:solidFill>
                <a:latin typeface="Arial"/>
              </a:defRPr>
            </a:pPr>
            <a:r>
              <a:t>Порог решения после пилота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49884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" y="443484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не ниже 25–30 отпечатков в день;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8646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" y="480060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5+ платящих партнеров на точку;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23036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" y="5166359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QR-конверсия минимум 8%;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" y="553212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30+ отзывов и рейтинг 4,7+;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596188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" y="5897879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обслуживание одного клиента до 2–3 минут.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069080"/>
            <a:ext cx="4114800" cy="1691640"/>
          </a:xfrm>
          <a:prstGeom prst="round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370832"/>
            <a:ext cx="4114800" cy="320040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600" b="1">
                <a:solidFill>
                  <a:srgbClr val="FFFFFF"/>
                </a:solidFill>
              </a:rPr>
              <a:t>МАСШТАБИРОВАТЬ / ДОРАБОТАТЬ / СТОП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983480"/>
            <a:ext cx="3383280" cy="365760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100">
                <a:solidFill>
                  <a:srgbClr val="E0E8EE"/>
                </a:solidFill>
              </a:rPr>
              <a:t>решение принимается только по фактическим метрикам пилота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1162</Words>
  <Application>Microsoft Macintosh PowerPoint</Application>
  <PresentationFormat>Широкоэкранный</PresentationFormat>
  <Paragraphs>210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Hrach Babayan</cp:lastModifiedBy>
  <cp:revision>3</cp:revision>
  <dcterms:created xsi:type="dcterms:W3CDTF">2013-01-27T09:14:16Z</dcterms:created>
  <dcterms:modified xsi:type="dcterms:W3CDTF">2026-05-17T20:11:23Z</dcterms:modified>
  <cp:category/>
</cp:coreProperties>
</file>